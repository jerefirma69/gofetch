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media/image1.png" ContentType="image/png"/>
  <Override PartName="/ppt/media/hdphoto2.wdp" ContentType="image/vnd.ms-photo"/>
  <Override PartName="/ppt/media/image2.png" ContentType="image/png"/>
  <Override PartName="/ppt/media/hdphoto3.wdp" ContentType="image/vnd.ms-photo"/>
  <Override PartName="/ppt/media/hdphoto1.wdp" ContentType="image/vnd.ms-photo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hr-HR" sz="4400" spc="-1" strike="noStrike">
                <a:solidFill>
                  <a:srgbClr val="000000"/>
                </a:solidFill>
                <a:latin typeface="Arial"/>
              </a:rPr>
              <a:t>Kliknite za premještanje slajda</a:t>
            </a: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Kliknite za uređivanje formata bilješki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&lt;zaglavlje&gt;</a:t>
            </a:r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hr-H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&lt;datum/vrijeme&gt;</a:t>
            </a:r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hr-H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&lt;podnožje&gt;</a:t>
            </a:r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hr-H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C7E36F1-79AE-4D3D-B199-093BB3752FB4}" type="slidenum"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&lt;broj-slajda&gt;</a:t>
            </a:fld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hr-H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r-H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541B0D-3B86-4F5B-9A64-FFEDCB3FBE17}" type="slidenum">
              <a:rPr b="0" lang="hr-HR" sz="1200" spc="-1" strike="noStrike">
                <a:solidFill>
                  <a:srgbClr val="000000"/>
                </a:solidFill>
                <a:latin typeface="Times New Roman"/>
              </a:rPr>
              <a:t>&lt;broj-slajda&gt;</a:t>
            </a:fld>
            <a:endParaRPr b="0" lang="hr-H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hr-H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r-H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C934B9-8D6D-4A81-9B75-D2A53E6CC5BC}" type="slidenum">
              <a:rPr b="0" lang="hr-HR" sz="1200" spc="-1" strike="noStrike">
                <a:solidFill>
                  <a:srgbClr val="000000"/>
                </a:solidFill>
                <a:latin typeface="Times New Roman"/>
              </a:rPr>
              <a:t>&lt;broj-slajda&gt;</a:t>
            </a:fld>
            <a:endParaRPr b="0" lang="hr-H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Just list no need to elaborate in this stage!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r-H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39B82F-277B-4D3C-8ADD-E9150F735318}" type="slidenum">
              <a:rPr b="0" lang="hr-HR" sz="1200" spc="-1" strike="noStrike">
                <a:solidFill>
                  <a:srgbClr val="000000"/>
                </a:solidFill>
                <a:latin typeface="Times New Roman"/>
              </a:rPr>
              <a:t>&lt;broj-slajda&gt;</a:t>
            </a:fld>
            <a:endParaRPr b="0" lang="hr-H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Navedite samo svoju viziju projektne ideje...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r-H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21EC00-477C-4B7E-8E4C-25E6462BB801}" type="slidenum">
              <a:rPr b="0" lang="hr-HR" sz="1200" spc="-1" strike="noStrike">
                <a:solidFill>
                  <a:srgbClr val="000000"/>
                </a:solidFill>
                <a:latin typeface="Times New Roman"/>
              </a:rPr>
              <a:t>&lt;broj-slajda&gt;</a:t>
            </a:fld>
            <a:endParaRPr b="0" lang="hr-H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053B1D-9CB7-46B4-A594-6670097504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5FA260-4069-4189-AB0C-359F09E7A6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6971C8-1908-46FA-924A-EED645A0E1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D0A33B-8C85-4394-BFB8-7A13AA35E1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57E226-6480-4184-95BE-9FD9D969E9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E04BF2-84EF-4C83-B145-B05593951A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F1C561-F554-4A78-8868-0A0AFFFAC1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E5C846-CFB1-4F6D-8F95-3A5B77B1BF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7F730D-219F-44F9-9D53-85457B802B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7F3285-4731-4900-9A92-A454D88113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865B03-BA22-4703-9A97-1FA5B04B1C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8FB3F6-9AF7-49CC-A0A0-0F5FB42FD6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638F1F-0181-4A3E-9236-2EF38C85B4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90DDD3D-B740-4308-9A93-E250BAD99B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8CD202-885A-477B-9006-C4F374F9BA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F41DD9-6887-4C14-A484-28B3ADD450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D83A62D-F714-4A19-B17C-9ED3F46F2F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483CF1-7FF2-4012-84D9-238938DA60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F8C357-0E60-4ACE-8EE1-3350619266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9785134-F479-4CF3-B22E-999A113BDB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5AEE1D3-28C7-40C6-89D5-198556EAF6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A5D77B-5868-4EAB-B39C-A52788C97D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607C09-54F2-4494-8411-9A0F860A0B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7AA910-4519-47AA-826F-A13DE86EA2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27DC4B9-9448-4326-9A39-C0FDA79212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10F2AA6-94E2-41A3-B967-57D5D8836E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CA3A1A8-5E76-4E22-AC56-4DC5F7E968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D5BF094-1ACE-4A65-AF00-6549C4C146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03D9F66-1233-43FE-AA17-D537EA92EE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A28E061-C773-4685-9C9A-2D2FE7E674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60D60FA-9A57-477E-9593-62CBB9991D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55D07A1-4868-4059-A3EB-78932C9875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90056CD-E64A-47D0-BA7E-358779A370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7245586-02AB-40A2-A129-CC53ADDC9A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F5F6950-A7C0-478C-BF65-B7FB291BB8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B2C756F-AC43-4CD3-AA0E-9A729CF225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hr-H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slideLayout" Target="../slideLayouts/slideLayout1.xml"/><Relationship Id="rId9" Type="http://schemas.openxmlformats.org/officeDocument/2006/relationships/slideLayout" Target="../slideLayouts/slideLayout2.xml"/><Relationship Id="rId10" Type="http://schemas.openxmlformats.org/officeDocument/2006/relationships/slideLayout" Target="../slideLayouts/slideLayout3.xml"/><Relationship Id="rId11" Type="http://schemas.openxmlformats.org/officeDocument/2006/relationships/slideLayout" Target="../slideLayouts/slideLayout4.xml"/><Relationship Id="rId12" Type="http://schemas.openxmlformats.org/officeDocument/2006/relationships/slideLayout" Target="../slideLayouts/slideLayout5.xml"/><Relationship Id="rId13" Type="http://schemas.openxmlformats.org/officeDocument/2006/relationships/slideLayout" Target="../slideLayouts/slideLayout6.xml"/><Relationship Id="rId14" Type="http://schemas.openxmlformats.org/officeDocument/2006/relationships/slideLayout" Target="../slideLayouts/slideLayout7.xml"/><Relationship Id="rId15" Type="http://schemas.openxmlformats.org/officeDocument/2006/relationships/slideLayout" Target="../slideLayouts/slideLayout8.xml"/><Relationship Id="rId16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0.xml"/><Relationship Id="rId18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2.wdp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3.wdp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/>
          <p:cNvSpPr/>
          <p:nvPr/>
        </p:nvSpPr>
        <p:spPr>
          <a:xfrm>
            <a:off x="72000" y="887400"/>
            <a:ext cx="8999280" cy="4500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360" bIns="45360" anchor="ctr">
            <a:noAutofit/>
          </a:bodyPr>
          <a:p>
            <a:pPr>
              <a:lnSpc>
                <a:spcPct val="100000"/>
              </a:lnSpc>
            </a:pPr>
            <a:endParaRPr b="0" lang="hr-HR" sz="1350" spc="-1" strike="noStrike">
              <a:solidFill>
                <a:srgbClr val="000000"/>
              </a:solidFill>
              <a:latin typeface="Tahoma"/>
              <a:ea typeface="DejaVu Sans"/>
            </a:endParaRPr>
          </a:p>
        </p:txBody>
      </p:sp>
      <p:sp>
        <p:nvSpPr>
          <p:cNvPr id="1" name="Rectangle 7"/>
          <p:cNvSpPr/>
          <p:nvPr/>
        </p:nvSpPr>
        <p:spPr>
          <a:xfrm>
            <a:off x="0" y="6816240"/>
            <a:ext cx="9143280" cy="35280"/>
          </a:xfrm>
          <a:prstGeom prst="rect">
            <a:avLst/>
          </a:prstGeom>
          <a:gradFill rotWithShape="0">
            <a:gsLst>
              <a:gs pos="3000">
                <a:srgbClr val="ffffff">
                  <a:alpha val="56078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6000" bIns="36000" anchor="ctr">
            <a:noAutofit/>
          </a:bodyPr>
          <a:p>
            <a:pPr>
              <a:lnSpc>
                <a:spcPct val="100000"/>
              </a:lnSpc>
            </a:pPr>
            <a:endParaRPr b="0" lang="hr-HR" sz="1350" spc="-1" strike="noStrike">
              <a:solidFill>
                <a:srgbClr val="000000"/>
              </a:solidFill>
              <a:latin typeface="Tahoma"/>
              <a:ea typeface="DejaVu Sans"/>
            </a:endParaRPr>
          </a:p>
        </p:txBody>
      </p:sp>
      <p:pic>
        <p:nvPicPr>
          <p:cNvPr id="2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600" cy="547920"/>
          </a:xfrm>
          <a:prstGeom prst="rect">
            <a:avLst/>
          </a:prstGeom>
          <a:ln w="0">
            <a:noFill/>
          </a:ln>
        </p:spPr>
      </p:pic>
      <p:pic>
        <p:nvPicPr>
          <p:cNvPr id="3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3960" cy="305640"/>
          </a:xfrm>
          <a:prstGeom prst="rect">
            <a:avLst/>
          </a:prstGeom>
          <a:ln w="0">
            <a:noFill/>
          </a:ln>
        </p:spPr>
      </p:pic>
      <p:sp>
        <p:nvSpPr>
          <p:cNvPr id="4" name="Blank"/>
          <p:cNvSpPr/>
          <p:nvPr/>
        </p:nvSpPr>
        <p:spPr>
          <a:xfrm>
            <a:off x="13680" y="-4320"/>
            <a:ext cx="9143280" cy="990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50760" rIns="50760" tIns="24840" bIns="24840" anchor="ctr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1" lang="hr-HR" sz="1130" spc="-1" strike="noStrike">
              <a:solidFill>
                <a:srgbClr val="000000"/>
              </a:solidFill>
              <a:latin typeface="Franklin Gothic Medium"/>
              <a:ea typeface="DejaVu Sans"/>
            </a:endParaRPr>
          </a:p>
        </p:txBody>
      </p:sp>
      <p:pic>
        <p:nvPicPr>
          <p:cNvPr id="5" name="UNI_Logo" descr=""/>
          <p:cNvPicPr/>
          <p:nvPr/>
        </p:nvPicPr>
        <p:blipFill>
          <a:blip r:embed="rId5"/>
          <a:srcRect l="40605" t="17628" r="15251" b="19246"/>
          <a:stretch/>
        </p:blipFill>
        <p:spPr>
          <a:xfrm>
            <a:off x="6770880" y="262440"/>
            <a:ext cx="726480" cy="719280"/>
          </a:xfrm>
          <a:prstGeom prst="rect">
            <a:avLst/>
          </a:prstGeom>
          <a:ln w="0">
            <a:noFill/>
          </a:ln>
        </p:spPr>
      </p:pic>
      <p:pic>
        <p:nvPicPr>
          <p:cNvPr id="6" name="FER_logo" descr="A close up of a logo&#10;&#10;Description automatically generated"/>
          <p:cNvPicPr/>
          <p:nvPr/>
        </p:nvPicPr>
        <p:blipFill>
          <a:blip r:embed="rId6">
            <a:alphaModFix amt="79000"/>
          </a:blip>
          <a:srcRect l="13477" t="23723" r="15699" b="21457"/>
          <a:stretch/>
        </p:blipFill>
        <p:spPr>
          <a:xfrm>
            <a:off x="7629120" y="345240"/>
            <a:ext cx="1187280" cy="581760"/>
          </a:xfrm>
          <a:prstGeom prst="rect">
            <a:avLst/>
          </a:prstGeom>
          <a:ln w="0">
            <a:noFill/>
          </a:ln>
        </p:spPr>
      </p:pic>
      <p:sp>
        <p:nvSpPr>
          <p:cNvPr id="7" name="Course"/>
          <p:cNvSpPr/>
          <p:nvPr/>
        </p:nvSpPr>
        <p:spPr>
          <a:xfrm>
            <a:off x="6310080" y="2336760"/>
            <a:ext cx="239760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8000"/>
          </a:bodyPr>
          <a:p>
            <a:pPr>
              <a:lnSpc>
                <a:spcPct val="110000"/>
              </a:lnSpc>
            </a:pPr>
            <a:r>
              <a:rPr b="1" lang="hr-HR" sz="1800" spc="-1" strike="noStrike" cap="small">
                <a:solidFill>
                  <a:srgbClr val="363636"/>
                </a:solidFill>
                <a:latin typeface="Century Gothic"/>
                <a:ea typeface="DejaVu Sans"/>
              </a:rPr>
              <a:t>Programsko inženjerstvo</a:t>
            </a:r>
            <a:endParaRPr b="0" lang="hr-H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0000"/>
              </a:lnSpc>
            </a:pPr>
            <a:r>
              <a:rPr b="1" lang="hr-HR" sz="1800" spc="-1" strike="noStrike" cap="small">
                <a:solidFill>
                  <a:srgbClr val="363636"/>
                </a:solidFill>
                <a:latin typeface="Century Gothic"/>
                <a:ea typeface="DejaVu Sans"/>
              </a:rPr>
              <a:t>ID 183400</a:t>
            </a:r>
            <a:endParaRPr b="0" lang="hr-H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Picture 15" descr=""/>
          <p:cNvPicPr/>
          <p:nvPr/>
        </p:nvPicPr>
        <p:blipFill>
          <a:blip r:embed="rId7"/>
          <a:stretch/>
        </p:blipFill>
        <p:spPr>
          <a:xfrm>
            <a:off x="187920" y="0"/>
            <a:ext cx="3203640" cy="2773440"/>
          </a:xfrm>
          <a:prstGeom prst="rect">
            <a:avLst/>
          </a:prstGeom>
          <a:ln w="0">
            <a:noFill/>
          </a:ln>
        </p:spPr>
      </p:pic>
      <p:sp>
        <p:nvSpPr>
          <p:cNvPr id="9" name="TextBox 3"/>
          <p:cNvSpPr/>
          <p:nvPr/>
        </p:nvSpPr>
        <p:spPr>
          <a:xfrm>
            <a:off x="2757240" y="3267000"/>
            <a:ext cx="3369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hr-HR" sz="2000" spc="-1" strike="noStrike" cap="all">
                <a:solidFill>
                  <a:srgbClr val="404040"/>
                </a:solidFill>
                <a:latin typeface="Franklin Gothic Demi"/>
                <a:ea typeface="DejaVu Sans"/>
              </a:rPr>
              <a:t>Prezentacija</a:t>
            </a:r>
            <a:r>
              <a:rPr b="0" lang="hr-HR" sz="2000" spc="-1" strike="noStrike">
                <a:solidFill>
                  <a:srgbClr val="000000"/>
                </a:solidFill>
                <a:latin typeface="Franklin Gothic Demi"/>
                <a:ea typeface="DejaVu Sans"/>
              </a:rPr>
              <a:t> </a:t>
            </a:r>
            <a:r>
              <a:rPr b="0" lang="hr-HR" sz="2000" spc="-1" strike="noStrike" cap="all">
                <a:solidFill>
                  <a:srgbClr val="404040"/>
                </a:solidFill>
                <a:latin typeface="Franklin Gothic Demi"/>
                <a:ea typeface="DejaVu Sans"/>
              </a:rPr>
              <a:t>projekta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>
              <a:buNone/>
            </a:pPr>
            <a:r>
              <a:rPr b="0" lang="hr-HR" sz="1800" spc="-1" strike="noStrike">
                <a:solidFill>
                  <a:srgbClr val="000000"/>
                </a:solidFill>
                <a:latin typeface="Arial"/>
              </a:rPr>
              <a:t>Kliknite za uređivanje formata teksta naslova</a:t>
            </a:r>
            <a:endParaRPr b="0" lang="hr-H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1"/>
          </p:nvPr>
        </p:nvSpPr>
        <p:spPr>
          <a:xfrm>
            <a:off x="758880" y="6500880"/>
            <a:ext cx="675900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hr-H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&lt;podnožje&gt;</a:t>
            </a:r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2"/>
          </p:nvPr>
        </p:nvSpPr>
        <p:spPr>
          <a:xfrm>
            <a:off x="8549280" y="6500880"/>
            <a:ext cx="47448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r-HR" sz="1000" spc="-1" strike="noStrike">
                <a:solidFill>
                  <a:srgbClr val="404040"/>
                </a:solidFill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C1E020-981A-490C-A094-FB4A5A297476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3"/>
          </p:nvPr>
        </p:nvSpPr>
        <p:spPr>
          <a:xfrm>
            <a:off x="7563600" y="6500880"/>
            <a:ext cx="93996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hr-H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&lt;datum/vrijeme&gt;</a:t>
            </a:r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3200" spc="-1" strike="noStrike">
                <a:solidFill>
                  <a:srgbClr val="000000"/>
                </a:solidFill>
                <a:latin typeface="Arial"/>
              </a:rPr>
              <a:t>Kliknite za uređivanje formata teksta strukture</a:t>
            </a: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800" spc="-1" strike="noStrike">
                <a:solidFill>
                  <a:srgbClr val="000000"/>
                </a:solidFill>
                <a:latin typeface="Arial"/>
              </a:rPr>
              <a:t>Druga razina strukture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400" spc="-1" strike="noStrike">
                <a:solidFill>
                  <a:srgbClr val="000000"/>
                </a:solidFill>
                <a:latin typeface="Arial"/>
              </a:rPr>
              <a:t>Treća razina strukture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Četvrta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Peta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Šesta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Sedma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0" r:id="rId1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7"/>
          <p:cNvSpPr/>
          <p:nvPr/>
        </p:nvSpPr>
        <p:spPr>
          <a:xfrm>
            <a:off x="72000" y="887400"/>
            <a:ext cx="8999280" cy="4500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360" bIns="45360" anchor="ctr">
            <a:noAutofit/>
          </a:bodyPr>
          <a:p>
            <a:pPr>
              <a:lnSpc>
                <a:spcPct val="100000"/>
              </a:lnSpc>
            </a:pPr>
            <a:endParaRPr b="0" lang="hr-HR" sz="1350" spc="-1" strike="noStrike">
              <a:solidFill>
                <a:srgbClr val="000000"/>
              </a:solidFill>
              <a:latin typeface="Tahoma"/>
              <a:ea typeface="DejaVu Sans"/>
            </a:endParaRPr>
          </a:p>
        </p:txBody>
      </p:sp>
      <p:sp>
        <p:nvSpPr>
          <p:cNvPr id="52" name="Rectangle 7"/>
          <p:cNvSpPr/>
          <p:nvPr/>
        </p:nvSpPr>
        <p:spPr>
          <a:xfrm>
            <a:off x="0" y="6816240"/>
            <a:ext cx="9143280" cy="35280"/>
          </a:xfrm>
          <a:prstGeom prst="rect">
            <a:avLst/>
          </a:prstGeom>
          <a:gradFill rotWithShape="0">
            <a:gsLst>
              <a:gs pos="3000">
                <a:srgbClr val="ffffff">
                  <a:alpha val="56078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6000" bIns="36000" anchor="ctr">
            <a:noAutofit/>
          </a:bodyPr>
          <a:p>
            <a:pPr>
              <a:lnSpc>
                <a:spcPct val="100000"/>
              </a:lnSpc>
            </a:pPr>
            <a:endParaRPr b="0" lang="hr-HR" sz="1350" spc="-1" strike="noStrike">
              <a:solidFill>
                <a:srgbClr val="000000"/>
              </a:solidFill>
              <a:latin typeface="Tahoma"/>
              <a:ea typeface="DejaVu Sans"/>
            </a:endParaRPr>
          </a:p>
        </p:txBody>
      </p:sp>
      <p:pic>
        <p:nvPicPr>
          <p:cNvPr id="53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600" cy="547920"/>
          </a:xfrm>
          <a:prstGeom prst="rect">
            <a:avLst/>
          </a:prstGeom>
          <a:ln w="0">
            <a:noFill/>
          </a:ln>
        </p:spPr>
      </p:pic>
      <p:pic>
        <p:nvPicPr>
          <p:cNvPr id="54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3960" cy="30564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ftr" idx="4"/>
          </p:nvPr>
        </p:nvSpPr>
        <p:spPr>
          <a:xfrm>
            <a:off x="758880" y="6500880"/>
            <a:ext cx="675900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hr-H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&lt;podnožje&gt;</a:t>
            </a:r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5"/>
          </p:nvPr>
        </p:nvSpPr>
        <p:spPr>
          <a:xfrm>
            <a:off x="8549280" y="6500880"/>
            <a:ext cx="47448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r-HR" sz="1000" spc="-1" strike="noStrike">
                <a:solidFill>
                  <a:srgbClr val="404040"/>
                </a:solidFill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D18A54-74F0-41E3-B062-42856EE37365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6"/>
          </p:nvPr>
        </p:nvSpPr>
        <p:spPr>
          <a:xfrm>
            <a:off x="7563600" y="6500880"/>
            <a:ext cx="93996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hr-H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&lt;datum/vrijeme&gt;</a:t>
            </a:r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hr-HR" sz="4400" spc="-1" strike="noStrike">
                <a:solidFill>
                  <a:srgbClr val="000000"/>
                </a:solidFill>
                <a:latin typeface="Arial"/>
              </a:rPr>
              <a:t>Kliknite za uređivanje formata teksta naslova</a:t>
            </a: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3200" spc="-1" strike="noStrike">
                <a:solidFill>
                  <a:srgbClr val="000000"/>
                </a:solidFill>
                <a:latin typeface="Arial"/>
              </a:rPr>
              <a:t>Kliknite za uređivanje formata teksta strukture</a:t>
            </a: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800" spc="-1" strike="noStrike">
                <a:solidFill>
                  <a:srgbClr val="000000"/>
                </a:solidFill>
                <a:latin typeface="Arial"/>
              </a:rPr>
              <a:t>Druga razina strukture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400" spc="-1" strike="noStrike">
                <a:solidFill>
                  <a:srgbClr val="000000"/>
                </a:solidFill>
                <a:latin typeface="Arial"/>
              </a:rPr>
              <a:t>Treća razina strukture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Četvrta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Peta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Šesta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Sedma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7"/>
          <p:cNvSpPr/>
          <p:nvPr/>
        </p:nvSpPr>
        <p:spPr>
          <a:xfrm>
            <a:off x="72000" y="887400"/>
            <a:ext cx="8999280" cy="45000"/>
          </a:xfrm>
          <a:prstGeom prst="rect">
            <a:avLst/>
          </a:prstGeom>
          <a:gradFill rotWithShape="0">
            <a:gsLst>
              <a:gs pos="3000">
                <a:srgbClr val="d2effa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360" bIns="45360" anchor="ctr">
            <a:noAutofit/>
          </a:bodyPr>
          <a:p>
            <a:pPr>
              <a:lnSpc>
                <a:spcPct val="100000"/>
              </a:lnSpc>
            </a:pPr>
            <a:endParaRPr b="0" lang="hr-HR" sz="1350" spc="-1" strike="noStrike">
              <a:solidFill>
                <a:srgbClr val="000000"/>
              </a:solidFill>
              <a:latin typeface="Tahoma"/>
              <a:ea typeface="DejaVu Sans"/>
            </a:endParaRPr>
          </a:p>
        </p:txBody>
      </p:sp>
      <p:sp>
        <p:nvSpPr>
          <p:cNvPr id="97" name="Rectangle 7"/>
          <p:cNvSpPr/>
          <p:nvPr/>
        </p:nvSpPr>
        <p:spPr>
          <a:xfrm>
            <a:off x="0" y="6816240"/>
            <a:ext cx="9143280" cy="35280"/>
          </a:xfrm>
          <a:prstGeom prst="rect">
            <a:avLst/>
          </a:prstGeom>
          <a:gradFill rotWithShape="0">
            <a:gsLst>
              <a:gs pos="3000">
                <a:srgbClr val="ffffff">
                  <a:alpha val="56078"/>
                </a:srgbClr>
              </a:gs>
              <a:gs pos="100000">
                <a:srgbClr val="d2effa"/>
              </a:gs>
            </a:gsLst>
            <a:lin ang="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6000" bIns="36000" anchor="ctr">
            <a:noAutofit/>
          </a:bodyPr>
          <a:p>
            <a:pPr>
              <a:lnSpc>
                <a:spcPct val="100000"/>
              </a:lnSpc>
            </a:pPr>
            <a:endParaRPr b="0" lang="hr-HR" sz="1350" spc="-1" strike="noStrike">
              <a:solidFill>
                <a:srgbClr val="000000"/>
              </a:solidFill>
              <a:latin typeface="Tahoma"/>
              <a:ea typeface="DejaVu Sans"/>
            </a:endParaRPr>
          </a:p>
        </p:txBody>
      </p:sp>
      <p:pic>
        <p:nvPicPr>
          <p:cNvPr id="98" name="Picture 22" descr=""/>
          <p:cNvPicPr/>
          <p:nvPr/>
        </p:nvPicPr>
        <p:blipFill>
          <a:blip r:embed="rId2"/>
          <a:stretch/>
        </p:blipFill>
        <p:spPr>
          <a:xfrm>
            <a:off x="85320" y="171360"/>
            <a:ext cx="696600" cy="547920"/>
          </a:xfrm>
          <a:prstGeom prst="rect">
            <a:avLst/>
          </a:prstGeom>
          <a:ln w="0">
            <a:noFill/>
          </a:ln>
        </p:spPr>
      </p:pic>
      <p:pic>
        <p:nvPicPr>
          <p:cNvPr id="99" name="FER_logo" descr="A close up of a logo&#10;&#10;Description automatically generated"/>
          <p:cNvPicPr/>
          <p:nvPr/>
        </p:nvPicPr>
        <p:blipFill>
          <a:blip r:embed="rId3">
            <a:alphaModFix amt="7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2" r="15701" b="21449"/>
          <a:stretch/>
        </p:blipFill>
        <p:spPr>
          <a:xfrm>
            <a:off x="8469360" y="297000"/>
            <a:ext cx="633960" cy="30564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ftr" idx="7"/>
          </p:nvPr>
        </p:nvSpPr>
        <p:spPr>
          <a:xfrm>
            <a:off x="758880" y="6500880"/>
            <a:ext cx="675900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hr-H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&lt;podnožje&gt;</a:t>
            </a:r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8"/>
          </p:nvPr>
        </p:nvSpPr>
        <p:spPr>
          <a:xfrm>
            <a:off x="8549280" y="6500880"/>
            <a:ext cx="47448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r-HR" sz="1000" spc="-1" strike="noStrike">
                <a:solidFill>
                  <a:srgbClr val="404040"/>
                </a:solidFill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916EE4-05C6-43B6-8108-FE388C8DD3EB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9"/>
          </p:nvPr>
        </p:nvSpPr>
        <p:spPr>
          <a:xfrm>
            <a:off x="7563600" y="6500880"/>
            <a:ext cx="93996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hr-H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hr-HR" sz="1400" spc="-1" strike="noStrike">
                <a:solidFill>
                  <a:srgbClr val="000000"/>
                </a:solidFill>
                <a:latin typeface="Times New Roman"/>
              </a:rPr>
              <a:t>&lt;datum/vrijeme&gt;</a:t>
            </a:r>
            <a:endParaRPr b="0" lang="hr-H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hr-HR" sz="4400" spc="-1" strike="noStrike">
                <a:solidFill>
                  <a:srgbClr val="000000"/>
                </a:solidFill>
                <a:latin typeface="Arial"/>
              </a:rPr>
              <a:t>Kliknite za uređivanje formata teksta naslova</a:t>
            </a:r>
            <a:endParaRPr b="0" lang="hr-H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3200" spc="-1" strike="noStrike">
                <a:solidFill>
                  <a:srgbClr val="000000"/>
                </a:solidFill>
                <a:latin typeface="Arial"/>
              </a:rPr>
              <a:t>Kliknite za uređivanje formata teksta strukture</a:t>
            </a:r>
            <a:endParaRPr b="0" lang="hr-H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800" spc="-1" strike="noStrike">
                <a:solidFill>
                  <a:srgbClr val="000000"/>
                </a:solidFill>
                <a:latin typeface="Arial"/>
              </a:rPr>
              <a:t>Druga razina strukture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400" spc="-1" strike="noStrike">
                <a:solidFill>
                  <a:srgbClr val="000000"/>
                </a:solidFill>
                <a:latin typeface="Arial"/>
              </a:rPr>
              <a:t>Treća razina strukture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Četvrta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Peta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Šesta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r-HR" sz="2000" spc="-1" strike="noStrike">
                <a:solidFill>
                  <a:srgbClr val="000000"/>
                </a:solidFill>
                <a:latin typeface="Arial"/>
              </a:rPr>
              <a:t>Sedma razina strukture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62960" y="3751920"/>
            <a:ext cx="8244360" cy="147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 anchorCtr="1">
            <a:norm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hr-HR" sz="4000" spc="-1" strike="noStrike" cap="all">
                <a:solidFill>
                  <a:srgbClr val="404040"/>
                </a:solidFill>
                <a:latin typeface="Franklin Gothic Demi"/>
              </a:rPr>
              <a:t>PawPal</a:t>
            </a:r>
            <a:endParaRPr b="0" lang="hr-H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699480" y="5227200"/>
            <a:ext cx="7771680" cy="58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1400" spc="-1" strike="noStrike">
                <a:solidFill>
                  <a:srgbClr val="000000"/>
                </a:solidFill>
                <a:latin typeface="Franklin Gothic Book"/>
              </a:rPr>
              <a:t>Tim:  TG 13.3 GoFetch</a:t>
            </a:r>
            <a:endParaRPr b="0" lang="hr-HR" sz="1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1200" spc="-1" strike="noStrike">
                <a:solidFill>
                  <a:srgbClr val="000000"/>
                </a:solidFill>
                <a:latin typeface="Franklin Gothic Book"/>
              </a:rPr>
              <a:t>Ak. god. 2025./2026.</a:t>
            </a:r>
            <a:endParaRPr b="0" lang="hr-H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Sadržaj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Opis zadatka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Pregled zahtjeva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Korišteni alati i tehnologije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Arhitektura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Organizacija rada 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Iskustva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BEE4EE3-ACB3-447C-9D8F-126028CA3FC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Sadržaj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Članovi tima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Cilj projekta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Analiza i oblikovanje sustava</a:t>
            </a: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	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lvl="1" marL="487080" indent="-34308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Zahtjevi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1" marL="487080" indent="-34308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Arhitektura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Organizacija rada 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Iskustva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87CEAF-6F79-4143-851F-AC007051254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Članovi grupe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144360" y="1980000"/>
            <a:ext cx="8999280" cy="439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Dorian Jerčić: voditelj projekta, backend, frontend (dokumentacija)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Davor Žic: backend, frontend (dokumentacija)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Roko Stupić: backend (dokumentacija)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Anja Čerkez: frontend (dokumentacija)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Erna Topalović: frontend (dokumentacija)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Matija Relić: baza podataka (dokumentacija)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Jure Kovačević: baza podataka (dokumentacija)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360000" y="1260000"/>
            <a:ext cx="32101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hr-HR" sz="1800" spc="-1" strike="noStrike">
                <a:solidFill>
                  <a:srgbClr val="000000"/>
                </a:solidFill>
                <a:latin typeface="Arial"/>
              </a:rPr>
              <a:t>Imena članova i odgovornosti:</a:t>
            </a:r>
            <a:endParaRPr b="0" lang="hr-H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BC5F21C-CE06-4388-8BCC-8ABA26F3567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O projektu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sr-Latn-RS" sz="2400" spc="-1" strike="noStrike">
                <a:solidFill>
                  <a:srgbClr val="000000"/>
                </a:solidFill>
                <a:latin typeface="Franklin Gothic Book"/>
              </a:rPr>
              <a:t>Ukratko: </a:t>
            </a:r>
            <a:r>
              <a:rPr b="1" lang="hr-HR" sz="2400" spc="-1" strike="noStrike">
                <a:solidFill>
                  <a:srgbClr val="000000"/>
                </a:solidFill>
                <a:latin typeface="Franklin Gothic Book"/>
              </a:rPr>
              <a:t>Što aplikacija rješava?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1" lang="hr-HR" sz="2400" spc="-1" strike="noStrike">
                <a:solidFill>
                  <a:srgbClr val="000000"/>
                </a:solidFill>
                <a:latin typeface="Franklin Gothic Book"/>
                <a:ea typeface="Microsoft YaHei"/>
              </a:rPr>
              <a:t>      </a:t>
            </a: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Microsoft YaHei"/>
              </a:rPr>
              <a:t>PawPal rješava problem manjka vremena vlasnika pasa za odrađivanje šetnje sa svojim psom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Microsoft YaHei"/>
              </a:rPr>
              <a:t>Cilj: spojiti vlasnike i šetače za dogovaranje termina šetnji uz jednostavno dogovaranje termina i transparentno plaćanje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  <a:ea typeface="Microsoft YaHei"/>
              </a:rPr>
              <a:t>Slična rješenja su Rover i Wag!, no PawPal nije fokusiran isključivo na SAD, te se izdvaja po integriranom načinu komuniciranja šetača i vlasnika, kao i opcionalnim plaćanjima putem PayPala ili gotovinom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3"/>
          </p:nvPr>
        </p:nvSpPr>
        <p:spPr>
          <a:xfrm>
            <a:off x="8549280" y="6500880"/>
            <a:ext cx="474480" cy="2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r-HR" sz="1000" spc="-1" strike="noStrike">
                <a:solidFill>
                  <a:srgbClr val="404040"/>
                </a:solidFill>
                <a:latin typeface="Franklin Gothic Boo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98A1CA-6DD4-4578-B3F5-A5EE8451B4F4}" type="slidenum">
              <a:rPr b="0" lang="hr-HR" sz="1000" spc="-1" strike="noStrike">
                <a:solidFill>
                  <a:srgbClr val="404040"/>
                </a:solidFill>
                <a:latin typeface="Franklin Gothic Book"/>
              </a:rPr>
              <a:t>&lt;broj-slajda&gt;</a:t>
            </a:fld>
            <a:endParaRPr b="0" lang="hr-H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Pregled zahtjeva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     </a:t>
            </a: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Funkcijski zahtjevi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Registracija i autentifikacija korisnika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Online plaćanja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Rezervacija termina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Pretraživanje i filtriranje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Recenzije i ocjenjivanje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Uređivanje profila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Višestruke uloge  korisnika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432ACA6-6BF0-4791-86FB-724776744128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Pregled zahtjeva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4436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     </a:t>
            </a: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Nefunkcijski zahtjevi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Performanse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Sigurnost podataka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Autentifikacija i autorizacija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Upotrebljivost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Pouzdanost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Privatnost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1DCFF09-A1C2-48E9-9391-E9FF2A208FB3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UML dijagram obrazaca uporabe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Visokorazinski dijagram obrazaca uporabe cijelog sustava 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1638720" y="1620000"/>
            <a:ext cx="5865840" cy="4751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7AB763A-9897-4459-B86B-274B6683106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Arhitektura sustava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Frontend: React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Backend: .NET, C#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Baza podataka: PostgreSQL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Hosting: Azure App Service, Vercel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Vanjski servisi: Google kalendar, PayPal, GetStream.io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Autentifikacija i sigurnost: OAuth 2.0, JWT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9A94DF-E6BF-478E-81E3-42085EA93950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Arhitektura sustava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1620000" y="1080000"/>
            <a:ext cx="6119640" cy="53510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2B5CE3-30C5-4BD7-8E01-445731885C8C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Ispitivanje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Selenium WebDriver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Provjera osnovnih funkcionalnosti razreda AuthService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Ispitivanje: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   </a:t>
            </a: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Registracije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   </a:t>
            </a: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Prijava pogrešnom lozinkom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   </a:t>
            </a: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Registracija sa postojećim mailom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   </a:t>
            </a: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Prijava nepostojećeg korisnika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92A70C7-3196-4485-A3EA-32A2B87D9A74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Korišteni alati i tehnologije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14436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Jezici: JavaScript, HTML, CSS, C#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Baza podataka: PostgreSQL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Razvojni alati: VS Code, Git, GitHub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Dodatne tehnologije: Discord, WhatsApp, AstahUML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  <a:tabLst>
                <a:tab algn="l" pos="0"/>
              </a:tabLst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Smještaj aplikacije: Vercel, Azure App Service, Supabase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15AFD1-BD61-483B-951E-E480853B5E95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Organizacija rada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 rot="21597600">
            <a:off x="67680" y="1083960"/>
            <a:ext cx="3709440" cy="5732280"/>
          </a:xfrm>
          <a:prstGeom prst="rect">
            <a:avLst/>
          </a:prstGeom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3780000" y="3060000"/>
            <a:ext cx="5264640" cy="2410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C433C6-41C1-4499-ADC5-A0F9A1C13ADD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19280" cy="82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r-HR" sz="2800" spc="-1" strike="noStrike" cap="all">
                <a:solidFill>
                  <a:srgbClr val="404040"/>
                </a:solidFill>
                <a:latin typeface="Franklin Gothic Demi"/>
              </a:rPr>
              <a:t>Zaključak</a:t>
            </a:r>
            <a:endParaRPr b="0" lang="hr-H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72000" y="972000"/>
            <a:ext cx="8999280" cy="53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6760" indent="-26676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400" spc="-1" strike="noStrike">
                <a:solidFill>
                  <a:srgbClr val="000000"/>
                </a:solidFill>
                <a:latin typeface="Franklin Gothic Book"/>
              </a:rPr>
              <a:t>Naučene lekcije</a:t>
            </a: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  <a:p>
            <a:pPr lvl="1" marL="487080" indent="-34308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Loše: kašnjenje u realizaciji zadataka, nesavršena komunikacija među članovima, manjak iskustva na sličnim projektima, dodatne obaveze nevezane za projekt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lvl="1" marL="487080" indent="-343080">
              <a:lnSpc>
                <a:spcPct val="100000"/>
              </a:lnSpc>
              <a:spcBef>
                <a:spcPts val="400"/>
              </a:spcBef>
              <a:spcAft>
                <a:spcPts val="300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b="0" lang="hr-HR" sz="2000" spc="-1" strike="noStrike">
                <a:solidFill>
                  <a:srgbClr val="000000"/>
                </a:solidFill>
                <a:latin typeface="Franklin Gothic Book"/>
              </a:rPr>
              <a:t>Naučeno: postupno rješavanje problema, kontinuirano učenje potrebnih alata, upoznavanje članova za bolji rad, pravovremena komunikacija, ne zadavanje više posla nego li je potrebno u odnosu a zadano vrijeme, solidno definirana arhitektura</a:t>
            </a: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hr-H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0000"/>
              </a:lnSpc>
              <a:spcBef>
                <a:spcPts val="499"/>
              </a:spcBef>
              <a:spcAft>
                <a:spcPts val="300"/>
              </a:spcAft>
              <a:buNone/>
              <a:tabLst>
                <a:tab algn="l" pos="0"/>
              </a:tabLst>
            </a:pPr>
            <a:endParaRPr b="0" lang="hr-H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C3F8BC-5348-4498-846B-895D21709F6C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1329</TotalTime>
  <Application>LibreOffice/7.4.2.3$Windows_X86_64 LibreOffice_project/382eef1f22670f7f4118c8c2dd222ec7ad009daf</Application>
  <AppVersion>15.0000</AppVersion>
  <Words>424</Words>
  <Paragraphs>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2016-01-18T13:10:52Z</dcterms:created>
  <dc:creator>nfrid</dc:creator>
  <dc:description/>
  <dc:language>hr-HR</dc:language>
  <cp:lastModifiedBy/>
  <dcterms:modified xsi:type="dcterms:W3CDTF">2026-01-23T23:40:03Z</dcterms:modified>
  <cp:revision>21</cp:revision>
  <dc:subject/>
  <dc:title>&lt;Naziv projekta&gt;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(4:3)</vt:lpwstr>
  </property>
  <property fmtid="{D5CDD505-2E9C-101B-9397-08002B2CF9AE}" pid="4" name="Slides">
    <vt:i4>14</vt:i4>
  </property>
</Properties>
</file>